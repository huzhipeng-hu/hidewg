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2FF"/>
                </a:solidFill>
                <a:latin typeface="Consolas"/>
              </a:defRPr>
            </a:pPr>
            <a:r>
              <a:t>HideWG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WireGuard 流量隐蔽隧道系统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BB"/>
                </a:solidFill>
                <a:latin typeface="Consolas"/>
              </a:defRPr>
            </a:pPr>
            <a:r>
              <a:t>基于 WebSocket + TLS 的多层封装策略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27432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Consolas"/>
              </a:defRPr>
            </a:pPr>
            <a:r>
              <a:t>让 VPN 流量看起来像正常的 HTTPS 网页浏览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Python  |  ChaCha20-Poly1305  |  RFC 6455 WebSocket  |  TLS 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01  问题背景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onsolas"/>
              </a:defRPr>
            </a:pPr>
            <a:r>
              <a:t>WireGuard 的流量特征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固定首字节: 0x01/0x02/0x03/0x04 (消息类型)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保留零字节: 每包固定位置全零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固定包长: 148B 握手发起 + 92B 响应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Keepalive 模式: 固定间隔空包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协议指纹: UDP + 特定端口 + 熵值特征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6B6B"/>
                </a:solidFill>
                <a:latin typeface="Consolas"/>
              </a:defRPr>
            </a:pPr>
            <a:r>
              <a:t>  =&gt; 被 DPI 规则命中率 62.5%</a:t>
            </a:r>
          </a:p>
          <a:p>
            <a:pPr>
              <a:spcAft>
                <a:spcPts val="400"/>
              </a:spcAft>
              <a:defRPr sz="1500">
                <a:solidFill>
                  <a:srgbClr val="FF6B6B"/>
                </a:solidFill>
                <a:latin typeface="Consolas"/>
              </a:defRPr>
            </a:pPr>
            <a:r>
              <a:t>  =&gt; ML 分类器准确率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onsolas"/>
              </a:defRPr>
            </a:pPr>
            <a:r>
              <a:t>HideWG 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消除所有 WireGuard 固定字节特征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伪装为标准 HTTPS WebSocket 流量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模拟真实网页浏览的包长/时序分布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对抗规则检测 + ML 分类器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兼容现有 WireGuard 基础设施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=&gt; 规则命中率降至 20%</a:t>
            </a: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=&gt; 所有功能测试 8/8 通过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02  系统架构总览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188720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26187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onsolas"/>
              </a:defRPr>
            </a:pPr>
            <a:r>
              <a:t>WireGuard UDP 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6187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内部原始 VPN 负载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801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6B6B"/>
                </a:solidFill>
                <a:latin typeface="Consolas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463040" y="1956816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02996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HideWG Codec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29968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分片 + 填充 + ChaCha20-Poly1305 AEAD 加密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5694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1463040" y="2724912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79806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onsolas"/>
              </a:defRPr>
            </a:pPr>
            <a:r>
              <a:t>Noise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98064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S4 前缀填充 + 噪声前缀 + 垃圾包注入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337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93D"/>
                </a:solidFill>
                <a:latin typeface="Consolas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1463040" y="3493008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5661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onsolas"/>
              </a:defRPr>
            </a:pPr>
            <a:r>
              <a:t>WebSocket Binary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RFC 6455 二进制帧 + 掩码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1056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C9B0"/>
                </a:solidFill>
                <a:latin typeface="Consolas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1463040" y="4261104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33425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onsolas"/>
              </a:defRPr>
            </a:pPr>
            <a:r>
              <a:t>TLS 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34256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标准 HTTPS 加密层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737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86FC"/>
                </a:solidFill>
                <a:latin typeface="Consolas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1463040" y="5029200"/>
            <a:ext cx="9144000" cy="658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10235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BB"/>
                </a:solidFill>
                <a:latin typeface="Consolas"/>
              </a:defRPr>
            </a:pPr>
            <a:r>
              <a:t>TCP/IP :443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10235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与普通网页浏览完全一致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286000"/>
            <a:ext cx="1097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外</a:t>
            </a:r>
            <a:br/>
            <a:r>
              <a:t>层</a:t>
            </a:r>
            <a:br/>
            <a:r>
              <a:t>封</a:t>
            </a:r>
            <a:br/>
            <a:r>
              <a:t>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1887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内层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03  封装策略 (一): HideWG 协议编解码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303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协议头 HEADER (24 字节)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 0     : version      (B, 1字节)  固定值 1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 1     : flags        (B, 1字节)  FLAG_FRAGMENTED=0x01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 2-5   : session_id   (I, 4字节)  会话标识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 6-13  : sequence     (Q, 8字节)  单调递增序列号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14-17  : message_id   (I, 4字节)  消息分组ID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18-19  : fragment_index (H, 2字节) 分片序号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20-21  : fragment_count (H, 2字节) 总分片数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22-23  : payload_len  (H, 2字节)  原始负载长度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Byte 24-25  : padding_len  (H, 2字节)  填充长度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00D2FF"/>
                </a:solidFill>
                <a:latin typeface="Consolas"/>
              </a:defRPr>
            </a:pPr>
            <a:r>
              <a:t>  加密: ChaCha20-Poly1305 (AEAD)</a:t>
            </a:r>
          </a:p>
          <a:p>
            <a:pPr>
              <a:spcAft>
                <a:spcPts val="390"/>
              </a:spcAft>
              <a:defRPr sz="1300" b="0">
                <a:solidFill>
                  <a:srgbClr val="00D2FF"/>
                </a:solidFill>
                <a:latin typeface="Consolas"/>
              </a:defRPr>
            </a:pPr>
            <a:r>
              <a:t>  密钥: SHA-256("hidewg-v1:" + secret)</a:t>
            </a:r>
          </a:p>
          <a:p>
            <a:pPr>
              <a:spcAft>
                <a:spcPts val="390"/>
              </a:spcAft>
              <a:defRPr sz="1300" b="0">
                <a:solidFill>
                  <a:srgbClr val="00D2FF"/>
                </a:solidFill>
                <a:latin typeface="Consolas"/>
              </a:defRPr>
            </a:pPr>
            <a:r>
              <a:t>  每记录: [12B nonce][ciphertext][16B tag]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onsolas"/>
              </a:defRPr>
            </a:pPr>
            <a:r>
              <a:t>AEAD 加密封装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明文 = header(24B) + body(负载+填充)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nonce = os.urandom(12)  (每记录随机)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密文 = ChaCha20Poly1305.encrypt(nonce,明文)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输出 = nonce(12B) + 密文 + tag(16B)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5303520" cy="2651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onsolas"/>
              </a:defRPr>
            </a:pPr>
            <a:r>
              <a:t>消除的 WireGuard 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R1: 首字节 0x01-0x04  =&gt; 全部加密消除  100%-&gt;0%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R2: 保留零字节        =&gt; 加密后不可见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R3: 典型包长 148/92B  =&gt; 填充后随机化  12.5%-&gt;0%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R5: 固定 Keepalive    =&gt; 噪声注入消除  100%-&gt;0%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04  封装策略 (二): 随机分片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303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_random_split() 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触发条件: 包长 &gt; max_fragment_payload (默认1300B)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分片流程: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while 还有剩余数据: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    size = random.randint(434, 1300)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取出 size 字节作为一个分片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每个分片独立 AEAD 加密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最后一个分片持有剩余 (可能 &lt; 434B)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关键设计: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- 分片大小随机, 打破等长包模式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- 共享 message_id, 接收端按序重组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- FLAG_FRAGMENTED 标记多分片消息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- 序列号单调递增, 防重放攻击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onsolas"/>
              </a:defRPr>
            </a:pPr>
            <a:r>
              <a:t>为什么需要随机分片?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CNN 分类器依赖的特征: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- 连续等长包的自相关性 (lag autocorrelation)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- 固定分片边界产生的包长直方图峰值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随机分片效果: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每个分片长度在 [434, 1300] 均匀分布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  连续包长无规律, 自相关特征被破坏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onsolas"/>
              </a:defRPr>
            </a:pPr>
            <a:r>
              <a:t>重组器 Reassembler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滑动窗口: 4096 序列号 (防重放)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分片 TTL: 30 秒超时丢弃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索引: (session_id, message_id)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重复检测: 相同序列号直接丢弃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05  封装策略 (三): 四种填充策略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651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Fixed-Bucket (默认)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桶: [96, 128, 192, 256, 384, 512, 768, 1024, 1280]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选择最小能容纳负载的桶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20% 概率提升到下一个桶 (抖动)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每32包桶边界随机漂移 +/-N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4EC9B0"/>
                </a:solidFill>
                <a:latin typeface="Consolas"/>
              </a:defRPr>
            </a:pPr>
            <a:r>
              <a:t>效果: 打破精确尺寸聚类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651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onsolas"/>
              </a:defRPr>
            </a:pPr>
            <a:r>
              <a:t>Adaptive (自适应)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维护 128 包滑动窗口历史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60% 概率选择低频桶 (分布均匀化)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高斯抖动: gauss(0, 15) 打破桶对齐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权重 = (期望+1)/(计数+1) x 1.5倍自然桶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4EC9B0"/>
                </a:solidFill>
                <a:latin typeface="Consolas"/>
              </a:defRPr>
            </a:pPr>
            <a:r>
              <a:t>效果: 对抗 RF 直方图分箱特征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651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onsolas"/>
              </a:defRPr>
            </a:pPr>
            <a:r>
              <a:t>Traffic Mimicry (流量模拟)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模拟真实 HTTPS 包长分布: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60B (ACK, 15%) / 200B (API, 5%)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500B (数据, 5%) / 1400B (MSS, 75%)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预计算 ~60 个真实包长, 4B对齐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4EC9B0"/>
                </a:solidFill>
                <a:latin typeface="Consolas"/>
              </a:defRPr>
            </a:pPr>
            <a:r>
              <a:t>效果: 唯一包长数匹配真实HTTPS (~70)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651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Continuous (连续分布)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多模态连续分布模拟UDP混合流量: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25% gauss(85,30) ACK/DNS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30% gauss(900,300) QUIC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20% gauss(200,80) 游戏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15% gauss(120,40) VoIP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每64包随机重塑分布形状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06  封装策略 (四): 噪声注入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8580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S4 前缀填充 + 噪声前缀 (AmneziaWG 灵感)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外层数据格式: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  [1B: s4_len] [s4_len 随机字节] [1B: noise_len] [noise_len 随机字节] [HideWG 记录]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S4 填充: 0~48 字节随机长度 (s4_padding_max=48)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噪声前缀: 0~24 字节随机长度 (noise_prefix_range=(0,24))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接收端: 用两个 1B 长度指示器确定性剥离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效果: 即使填充到桶 256, 实际线上包长也会随机偏移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200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onsolas"/>
              </a:defRPr>
            </a:pPr>
            <a:r>
              <a:t>垃圾包注入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会话开始前发送 3 个随机包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大小: 64~384 字节随机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消除 WG 握手模式: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148B Initiation + 92B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206240"/>
            <a:ext cx="722376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389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onsolas"/>
              </a:defRPr>
            </a:pPr>
            <a:r>
              <a:t>覆盖流量 (Cover Traffic)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846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空闲期间持续发送仿真流量, 模拟真实 HTTPS 模式: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突发模型: 突发间隔 100-800ms, 突发内间隔 1-10ms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角色感知: 客户端小包(60-200B), 服务端大包(1200-1400B)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方向比 ~0.25 (客户端:服务端字节数), 匹配真实 HTTPS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双方可区分: SHAKE-256(cover_key + nonce) 确定性生成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07  封装策略 (五): WebSocket + TLS + HTTP 伪装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onsolas"/>
              </a:defRPr>
            </a:pPr>
            <a:r>
              <a:t>WebSocket 帧封装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RFC 6455 二进制帧: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FIN=1, opcode=0x02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客户端: 掩码 (4B key XOR)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服务端: 无掩码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握手伪装: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User-Agent: Mozilla/5.0...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Protocol: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onsolas"/>
              </a:defRPr>
            </a:pPr>
            <a:r>
              <a:t>TLS 1.3 加密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标准 TLS 握手: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RSA 2048 / SHA-256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自签名或 Let's Encrypt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传输层封装: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2B 长度前缀 + WS帧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全部在 TLS 记录内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3832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onsolas"/>
              </a:defRPr>
            </a:pPr>
            <a:r>
              <a:t>HTTP 多路复用器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自动检测连接类型: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TLS ClientHello? =&gt; TLS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WS Upgrade? =&gt; WebSocket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HTTP GET? =&gt; 假网页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伪装身份: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Apache/2.4.58 (Unix)</a:t>
            </a:r>
          </a:p>
          <a:p>
            <a:pPr>
              <a:spcAft>
                <a:spcPts val="390"/>
              </a:spcAft>
              <a:defRPr sz="1300" b="0">
                <a:solidFill>
                  <a:srgbClr val="4EC9B0"/>
                </a:solidFill>
                <a:latin typeface="Consolas"/>
              </a:defRPr>
            </a:pPr>
            <a:r>
              <a:t>  "It works!" 默认页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onsolas"/>
              </a:defRPr>
            </a:pPr>
            <a:r>
              <a:t>生产部署: nginx 反向代理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数据流: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客户端 --WSS(TLS1.3)--&gt; nginx:443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nginx --WS(明文)--&gt; HideWG:8443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377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nginx 职责: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TLS 终结 (Let's Encrypt 证书)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WebSocket 头转发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非 WS 请求返回正常网站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08  完整数据路径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5303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发送方向 (Encode)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1. WireGuard 产出加密 UDP 包 (如 128B)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2. _random_split() 随机分片 [434,1300]B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3. PaddingPolicy 填充到目标长度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4. 24B header + 填充后 body</a:t>
            </a:r>
          </a:p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5. ChaCha20-Poly1305 AEAD 加密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6. S4前缀 + 噪声前缀 包装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7. WebSocket 二进制帧 + 掩码</a:t>
            </a:r>
          </a:p>
          <a:p>
            <a:pPr>
              <a:spcAft>
                <a:spcPts val="420"/>
              </a:spcAft>
              <a:defRPr sz="1400" b="0">
                <a:solidFill>
                  <a:srgbClr val="BB86FC"/>
                </a:solidFill>
                <a:latin typeface="Consolas"/>
              </a:defRPr>
            </a:pPr>
            <a:r>
              <a:t>8. TLS 1.3 加密传输</a:t>
            </a:r>
          </a:p>
          <a:p>
            <a:pPr>
              <a:spcAft>
                <a:spcPts val="420"/>
              </a:spcAft>
              <a:defRPr sz="1400" b="0">
                <a:solidFill>
                  <a:srgbClr val="AAAABB"/>
                </a:solidFill>
                <a:latin typeface="Consolas"/>
              </a:defRPr>
            </a:pPr>
            <a:r>
              <a:t>9. TCP/IP :443 (标准 HTTPS)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10.空闲时注入覆盖流量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303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onsolas"/>
              </a:defRPr>
            </a:pPr>
            <a:r>
              <a:t>接收方向 (Decode)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AAAABB"/>
                </a:solidFill>
                <a:latin typeface="Consolas"/>
              </a:defRPr>
            </a:pPr>
            <a:r>
              <a:t>1. TCP/IP 收到 TLS 记录</a:t>
            </a:r>
          </a:p>
          <a:p>
            <a:pPr>
              <a:spcAft>
                <a:spcPts val="420"/>
              </a:spcAft>
              <a:defRPr sz="1400" b="0">
                <a:solidFill>
                  <a:srgbClr val="BB86FC"/>
                </a:solidFill>
                <a:latin typeface="Consolas"/>
              </a:defRPr>
            </a:pPr>
            <a:r>
              <a:t>2. TLS 解密得到原始字节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3. WebSocket 帧解码 (去掩码)</a:t>
            </a:r>
          </a:p>
          <a:p>
            <a:pPr>
              <a:spcAft>
                <a:spcPts val="420"/>
              </a:spcAft>
              <a:defRPr sz="1400" b="0">
                <a:solidFill>
                  <a:srgbClr val="4EC9B0"/>
                </a:solidFill>
                <a:latin typeface="Consolas"/>
              </a:defRPr>
            </a:pPr>
            <a:r>
              <a:t>4. strip_noise() 剥离 S4 + 噪声</a:t>
            </a:r>
          </a:p>
          <a:p>
            <a:pPr>
              <a:spcAft>
                <a:spcPts val="42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5. ChaCha20-Poly1305 解密 + 验证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6. 解析 header: session/seq/fragment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7. Reassembler 重组 (按 message_id)</a:t>
            </a:r>
          </a:p>
          <a:p>
            <a:pPr>
              <a:spcAft>
                <a:spcPts val="420"/>
              </a:spcAft>
              <a:defRPr sz="1400" b="0">
                <a:solidFill>
                  <a:srgbClr val="FFD93D"/>
                </a:solidFill>
                <a:latin typeface="Consolas"/>
              </a:defRPr>
            </a:pPr>
            <a:r>
              <a:t>8. 重放检测 (序列号滑动窗口)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9. 还原原始 WireGuard UDP 包</a:t>
            </a:r>
          </a:p>
          <a:p>
            <a:pPr>
              <a:spcAft>
                <a:spcPts val="42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10.转发给内部 WireGuard 接口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09  反检测能力总结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4864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检测维度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原始 WireGuard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HideWG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对抗手段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R1 首字节消息类型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onsolas"/>
              </a:defRPr>
            </a:pPr>
            <a:r>
              <a:t>100% 命中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AEAD 加密消除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10515600" cy="54864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R2 保留零字节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onsolas"/>
              </a:defRPr>
            </a:pPr>
            <a:r>
              <a:t>100% 命中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未处理 (待优化)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10515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R3 典型包长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12.5% 命中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填充策略随机化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83280"/>
            <a:ext cx="10515600" cy="54864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R4 握手方向时序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0% 命中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覆盖流量掩盖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10515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R5 固定 Keepalive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023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onsolas"/>
              </a:defRPr>
            </a:pPr>
            <a:r>
              <a:t>100% 命中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023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023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噪声注入消除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80560"/>
            <a:ext cx="10515600" cy="54864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总规则命中率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62.5%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降低 42.5 个百分点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0"/>
            <a:ext cx="10515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ML 分类器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可检测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Consolas"/>
              </a:defRPr>
            </a:pPr>
            <a:r>
              <a:t>不可检测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120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分片+填充+噪声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10  性能测试结果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功能测试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onsolas"/>
              </a:defRPr>
            </a:pPr>
            <a:r>
              <a:t>8/8 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全部正确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吞吐保留率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onsolas"/>
              </a:defRPr>
            </a:pPr>
            <a:r>
              <a:t>2.3%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CPU 处理瓶颈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188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带宽膨胀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93D"/>
                </a:solidFill>
                <a:latin typeface="Consolas"/>
              </a:defRPr>
            </a:pPr>
            <a:r>
              <a:t>1.38x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封装+填充开销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延迟增加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onsolas"/>
              </a:defRPr>
            </a:pPr>
            <a:r>
              <a:t>0.09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每包极低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474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CPU 开销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114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onsolas"/>
              </a:defRPr>
            </a:pPr>
            <a:r>
              <a:t>273%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46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Python 热路径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3474720"/>
            <a:ext cx="338328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内存峰值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4114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onsolas"/>
              </a:defRPr>
            </a:pPr>
            <a:r>
              <a:t>31.9 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846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onsolas"/>
              </a:defRPr>
            </a:pPr>
            <a:r>
              <a:t>极低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9B0"/>
                </a:solidFill>
                <a:latin typeface="Consolas"/>
              </a:defRPr>
            </a:pPr>
            <a:r>
              <a:t>丢包容忍: 1%丢包-&gt;98.5%完成  |  3%丢包-&gt;96.5%完成  |  5%丢包-&gt;91.5%完成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11  性能瓶颈分析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WS mask/unmask 逐字节 Python 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6B"/>
                </a:solidFill>
                <a:latin typeface="Consolas"/>
              </a:defRPr>
            </a:pPr>
            <a:r>
              <a:t>严重度: 最大瓶颈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ws.py:52-55 — 每分片 ~1400 次 Python 迭代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273 分片 = 38 万次 XOR 字节码执行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可用 C 扩展或 numpy 向量化提升 50-100x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每分片 2 次 os.urandom() 系统调用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6B"/>
                </a:solidFill>
                <a:latin typeface="Consolas"/>
              </a:defRPr>
            </a:pPr>
            <a:r>
              <a:t>严重度: 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protocol.py:311,324 — 填充字节 + nonce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273 x 2 = 546 次内核态切换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可批量预生成随机字节池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onsolas"/>
              </a:defRPr>
            </a:pPr>
            <a:r>
              <a:t>每分片独立 AEAD 加解密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严重度: 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protocol.py:327,347 — ChaCha20-Poly1305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273 x 2 = 546 次 Python-C FFI 调用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可合并小分片减少调用次数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onsolas"/>
              </a:defRPr>
            </a:pPr>
            <a:r>
              <a:t>大量 bytes() 内存拷贝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93D"/>
                </a:solidFill>
                <a:latin typeface="Consolas"/>
              </a:defRPr>
            </a:pPr>
            <a:r>
              <a:t>严重度: 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protocol.py:290,295 + ws.py:55,95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每分片 3-4 次分配+拷贝 = ~1000 次</a:t>
            </a:r>
          </a:p>
          <a:p>
            <a:pPr>
              <a:spcAft>
                <a:spcPts val="359"/>
              </a:spcAft>
              <a:defRPr sz="1200" b="0">
                <a:solidFill>
                  <a:srgbClr val="AAAABB"/>
                </a:solidFill>
                <a:latin typeface="Consolas"/>
              </a:defRPr>
            </a:pPr>
            <a:r>
              <a:t>可用 memoryview 零拷贝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onsolas"/>
              </a:defRPr>
            </a:pPr>
            <a:r>
              <a:t>12  局限性与未来工作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onsolas"/>
              </a:defRPr>
            </a:pPr>
            <a:r>
              <a:t>当前局限性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6B6B"/>
                </a:solidFill>
                <a:latin typeface="Consolas"/>
              </a:defRPr>
            </a:pPr>
            <a:r>
              <a:t>  R2 保留零字节仍然 100% 命中</a:t>
            </a:r>
          </a:p>
          <a:p>
            <a:pPr>
              <a:spcAft>
                <a:spcPts val="400"/>
              </a:spcAft>
              <a:defRPr sz="1500">
                <a:solidFill>
                  <a:srgbClr val="FF6B6B"/>
                </a:solidFill>
                <a:latin typeface="Consolas"/>
              </a:defRPr>
            </a:pPr>
            <a:r>
              <a:t>  Python 纯实现, 吞吐保留率仅 ~2-4%</a:t>
            </a:r>
          </a:p>
          <a:p>
            <a:pPr>
              <a:spcAft>
                <a:spcPts val="400"/>
              </a:spcAft>
              <a:defRPr sz="1500">
                <a:solidFill>
                  <a:srgbClr val="FF6B6B"/>
                </a:solidFill>
                <a:latin typeface="Consolas"/>
              </a:defRPr>
            </a:pPr>
            <a:r>
              <a:t>  WS mask/unmask 逐字节循环性能差</a:t>
            </a:r>
          </a:p>
          <a:p>
            <a:pPr>
              <a:spcAft>
                <a:spcPts val="400"/>
              </a:spcAft>
              <a:defRPr sz="1500">
                <a:solidFill>
                  <a:srgbClr val="FFD93D"/>
                </a:solidFill>
                <a:latin typeface="Consolas"/>
              </a:defRPr>
            </a:pPr>
            <a:r>
              <a:t>  每分片独立 AEAD 调用, FFI 开销大</a:t>
            </a:r>
          </a:p>
          <a:p>
            <a:pPr>
              <a:spcAft>
                <a:spcPts val="400"/>
              </a:spcAft>
              <a:defRPr sz="1500">
                <a:solidFill>
                  <a:srgbClr val="FFD93D"/>
                </a:solidFill>
                <a:latin typeface="Consolas"/>
              </a:defRPr>
            </a:pPr>
            <a:r>
              <a:t>  大量 bytes() 拷贝, 内存分配频繁</a:t>
            </a:r>
          </a:p>
          <a:p>
            <a:pPr>
              <a:spcAft>
                <a:spcPts val="400"/>
              </a:spcAft>
              <a:defRPr sz="1500">
                <a:solidFill>
                  <a:srgbClr val="FFD93D"/>
                </a:solidFill>
                <a:latin typeface="Consolas"/>
              </a:defRPr>
            </a:pPr>
            <a:r>
              <a:t>  仅测试本地回环, 未覆盖广域网场景</a:t>
            </a:r>
          </a:p>
          <a:p>
            <a:pPr>
              <a:spcAft>
                <a:spcPts val="400"/>
              </a:spcAft>
              <a:defRPr sz="1500">
                <a:solidFill>
                  <a:srgbClr val="FFD93D"/>
                </a:solidFill>
                <a:latin typeface="Consolas"/>
              </a:defRPr>
            </a:pPr>
            <a:r>
              <a:t>  ML 分类器样本量小, 真实对抗待验证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onsolas"/>
              </a:defRPr>
            </a:pPr>
            <a:r>
              <a:t>优化方向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修复 R2 保留零字节特征</a:t>
            </a: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C 扩展/PyO3 重写热路径 (50-100x)</a:t>
            </a: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批量随机字节池 (消除系统调用)</a:t>
            </a: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memoryview 零拷贝优化</a:t>
            </a:r>
          </a:p>
          <a:p>
            <a:pPr>
              <a:spcAft>
                <a:spcPts val="4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合并小分片减少 AEAD 调用</a:t>
            </a:r>
          </a:p>
          <a:p>
            <a:pPr>
              <a:spcAft>
                <a:spcPts val="400"/>
              </a:spcAft>
              <a:defRPr sz="1500">
                <a:solidFill>
                  <a:srgbClr val="00D2FF"/>
                </a:solidFill>
                <a:latin typeface="Consolas"/>
              </a:defRPr>
            </a:pPr>
            <a:r>
              <a:t>  广域网真实场景测试</a:t>
            </a:r>
          </a:p>
          <a:p>
            <a:pPr>
              <a:spcAft>
                <a:spcPts val="400"/>
              </a:spcAft>
              <a:defRPr sz="1500">
                <a:solidFill>
                  <a:srgbClr val="00D2FF"/>
                </a:solidFill>
                <a:latin typeface="Consolas"/>
              </a:defRPr>
            </a:pPr>
            <a:r>
              <a:t>  对抗更强的 DPI 系统 (GFW 级别)</a:t>
            </a:r>
          </a:p>
          <a:p>
            <a:pPr>
              <a:spcAft>
                <a:spcPts val="400"/>
              </a:spcAft>
              <a:defRPr sz="1500">
                <a:solidFill>
                  <a:srgbClr val="00D2FF"/>
                </a:solidFill>
                <a:latin typeface="Consolas"/>
              </a:defRPr>
            </a:pPr>
            <a:r>
              <a:t>  多平台部署 (Docker/路由器)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onsolas"/>
              </a:defRPr>
            </a:pPr>
            <a:r>
              <a:t>HideWG — WireGuard 流量隐蔽隧道系统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Consolas"/>
              </a:defRPr>
            </a:pPr>
            <a:r>
              <a:t>github.com/HuZhipeng-hu/hidewg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